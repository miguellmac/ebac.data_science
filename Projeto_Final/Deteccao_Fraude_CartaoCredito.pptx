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27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B22C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868680" cy="86868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04881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DATA SCIENCE · EBAC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Fraude em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Crédito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 machine learning para identificar transações fraudulentas em meio a um desbalanceamento extremo de classes — 0,17% de fraude em 284 mil transações.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Cardoso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detectar fraude é um desafio de dados, não só de negócio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E8EEF5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23033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em massa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transações de cartão acontecem por dia. Fraudes precisam ser identificadas em meio a um volume gigantesco de operações legítimas.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E8EEF5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800600" y="214884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134" y="23033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sutis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00600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Fraudadores adaptam suas táticas para escapar de sistemas de segurança. Fraude não segue um padrão óbvio ou fixo.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E8EEF5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641080" y="214884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5614" y="23033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extremamente desbalanceadas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41080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são raras por definição — o que torna a tarefa de identificá-las estatisticamente muito mais difícil do que um problema de classificação comum.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60120" y="53492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541" y="55156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2120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objetivo: </a:t>
            </a: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classificador capaz de identificar fraudes com o menor número possível de casos que passam despercebidos — o erro mais custoso em um sistema financeiro real.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de 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284.807 transações de cartão de crédito, coletadas ao longo de 48 horas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 DA BASE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— V28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obtidos via PCA (dados anonimizados)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 desde a 1ª transação da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da transação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0 = legítima · 1 = fraude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69164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903720" y="181051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284.807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949440" y="2542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NO TOTAL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75120" y="34290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0" y="3566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8580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89720" y="34290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3A9B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9372600" y="3566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3726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75120" y="516636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903720" y="53675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41" y="5533949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80960" y="52578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horas </a:t>
            </a: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coleta — mas sem referência de horário inicial, o que limita conclusões sobre horário exato de pico.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Grande Desafio: Desbalanceamento Extremo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que sempre respondesse "transação legítima" já acertaria 99,8% das vezes — e seria completamente inútil.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949440" cy="3383280"/>
          </a:xfrm>
          <a:prstGeom prst="roundRect">
            <a:avLst>
              <a:gd name="adj" fmla="val 2162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284.315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34440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LEGÍTIMAS  ·  99,83%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3977640"/>
            <a:ext cx="6126480" cy="365760"/>
          </a:xfrm>
          <a:prstGeom prst="roundRect">
            <a:avLst>
              <a:gd name="adj" fmla="val 12500"/>
            </a:avLst>
          </a:prstGeom>
          <a:solidFill>
            <a:srgbClr val="2740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34440" y="3977640"/>
            <a:ext cx="6108192" cy="365760"/>
          </a:xfrm>
          <a:prstGeom prst="roundRect">
            <a:avLst>
              <a:gd name="adj" fmla="val 12500"/>
            </a:avLst>
          </a:prstGeom>
          <a:solidFill>
            <a:srgbClr val="5C7A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34440" y="45720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234440" y="5257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FRAUDULENTAS  ·  0,17%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20574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B22C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255574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210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avaliação: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21040" y="3566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 da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Fraude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21040" y="4526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não faz sentido aqui — precision e recall da minoria são o que importa de verdade.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 — Tempo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transações ao longo do período de coleta, por classe</a:t>
            </a:r>
            <a:endParaRPr lang="en-US" sz="1300" dirty="0"/>
          </a:p>
        </p:txBody>
      </p:sp>
      <p:pic>
        <p:nvPicPr>
          <p:cNvPr id="4" name="Image 0" descr="imgs/img_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690372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08760"/>
            <a:ext cx="3840480" cy="4892040"/>
          </a:xfrm>
          <a:prstGeom prst="roundRect">
            <a:avLst>
              <a:gd name="adj" fmla="val 1905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95528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926" y="192572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OBSERVAMOS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955280" y="2788920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temporal das fraudes tem formato diferente da distribuição das legítimas. Em períodos de menor atividade geral (possivelmente madrugada), a concentração relativa de fraudes aumenta — o que faz sentido: menos monitoramento ativo, mais tempo até a vítima perceber a cobrança.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955280" y="48463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8138160" y="49834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22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Ressalva: </a:t>
            </a:r>
            <a:r>
              <a:rPr lang="en-US" sz="10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sabemos o horário real de início da coleta, o que limita qualquer conclusão sobre horário exato de pico.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 — Valor da Transação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têm valores sistematicamente diferentes dos legítimos?</a:t>
            </a:r>
            <a:endParaRPr lang="en-US" sz="1300" dirty="0"/>
          </a:p>
        </p:txBody>
      </p:sp>
      <p:pic>
        <p:nvPicPr>
          <p:cNvPr id="4" name="Image 0" descr="imgs/img_amount_box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463040"/>
            <a:ext cx="49377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5379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37960" y="1938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9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R$ 22,00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379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3796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R$ 9,25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37960" y="3127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05256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92811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MÁXIMO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81160" y="1938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R$ 25.691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2811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28116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R$ 2.125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28116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· 12x menor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09360" y="34747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537960" y="36118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medianas são próximas, mas o teto máximo das fraudes é muito menor — possivelmente porque bancos exigem confirmações extras para valores altos, funcionando como barreira natural. Não é correto dizer que "fraude é sempre valor baixo": o padrão é mais sutil. Amount carrega sinal, mas não separa as classes sozinho.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 — Correlação com Fraude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variáveis (mesmo anônimas) mais se relacionam com a classe Fraude</a:t>
            </a:r>
            <a:endParaRPr lang="en-US" sz="1300" dirty="0"/>
          </a:p>
        </p:txBody>
      </p:sp>
      <p:pic>
        <p:nvPicPr>
          <p:cNvPr id="4" name="Image 0" descr="imgs/img_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463040"/>
            <a:ext cx="416052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50876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B22C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03504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NEGATIVAS MAIS FORTES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3504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V17 (-0,33)   V14 (-0,30)   V12 (-0,26)   V10 (-0,22)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35040" y="24871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vêm de PCA, não é possível interpretar o significado — mas o modelo explora esses padrões mesmo sem essa informação.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3108960"/>
            <a:ext cx="5760720" cy="1188720"/>
          </a:xfrm>
          <a:prstGeom prst="roundRect">
            <a:avLst>
              <a:gd name="adj" fmla="val 6154"/>
            </a:avLst>
          </a:prstGeom>
          <a:solidFill>
            <a:srgbClr val="3A9B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035040" y="3246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POSITIVAS MAIS FORTES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35040" y="3566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V11 (0,15)      V4 (0,13)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60720" y="448056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0" y="4663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799" y="47941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0840" y="461772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 Amount </a:t>
            </a: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 duas variáveis que conhecemos — tiveram correlação quase nula com Class (0,01 nos dois casos). Isoladamente, nenhuma das duas é um preditor forte; o valor real está nas variáveis de PCA combinadas.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de Testes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modelos, testados em 3 rodadas progressivas de balanceamento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83280" y="1691640"/>
            <a:ext cx="260604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383280" y="1691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260604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26480" y="1691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869680" y="1691640"/>
            <a:ext cx="260604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869680" y="1691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46120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766" y="3050438"/>
            <a:ext cx="263347" cy="26334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4400" y="3611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balanceamento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42062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em condição pura, nos dados originais (0,17% de fraude)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480560" y="26517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754880" y="29260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7548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086600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246" y="3050438"/>
            <a:ext cx="263347" cy="26334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54880" y="3611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SMOTE parcial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754880" y="42062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da minoria para 10% — evitando excesso de dados sintéticos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321040" y="26517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3"/>
          <p:cNvSpPr/>
          <p:nvPr/>
        </p:nvSpPr>
        <p:spPr>
          <a:xfrm>
            <a:off x="8595360" y="29260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/>
          <p:nvPr/>
        </p:nvSpPr>
        <p:spPr>
          <a:xfrm>
            <a:off x="85953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10927080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9726" y="3050438"/>
            <a:ext cx="263347" cy="26334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595360" y="3611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nativo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8595360" y="42062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/ scale_pos_weight, combinado com SMOTE quando fez sentido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decisão: F1-score da classe Fraude, sempre em validação cruzada estratificada (5 folds)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dos Testes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da classe Fraude, por modelo e cenário de balanceamento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balanceamento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SMOTE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Balanceamento nativo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0916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914400" y="49560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122469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4846320"/>
            <a:ext cx="9464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venceu de forma consistente </a:t>
            </a: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cenários, sem depender de balanceamento artificial — resultado do seu ordered boosting, que reduz o viés que normalmente prejudica gradient boosting em bases desbalanceadas. Combinar SMOTE com parâmetros nativos, aliás, chegou a piorar alguns modelos (Random Forest e LightGBM): duas técnicas reforçando o mesmo sinal levaram a super-correção.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Final: CatBoost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 via RandomizedSearchCV, com F1 da classe Fraude como métrica-alvo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75320" y="1920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l2_leaf_reg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474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343400" y="301752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bagging_temperature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046720" y="301752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27532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3474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B22C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(VALIDAÇÃO CRUZADA)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846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0.8752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914400" y="5715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frente ao baseline de 0.87 — o ordered boosting do CatBoost já capturava a maior parte do sinal sem ajuste fino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43434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46520" y="457200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054" y="4726534"/>
            <a:ext cx="285293" cy="28529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15200" y="452628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combinações testadas via RandomizedSearchCV, 5-fold cross-validation estratificada — 250 treinos no total.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Final — Conjunto de Teste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nunca vistos pelo modelo em nenhuma etapa (nem treino, nem tuning)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343400" y="1463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43400" y="2029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046720" y="1463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46720" y="2029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87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Fraude · 98 casos no conjunto de teste</a:t>
            </a:r>
            <a:endParaRPr lang="en-US" sz="1050" dirty="0"/>
          </a:p>
        </p:txBody>
      </p:sp>
      <p:pic>
        <p:nvPicPr>
          <p:cNvPr id="14" name="Image 0" descr="imgs/img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926080"/>
            <a:ext cx="4709160" cy="3703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35040" y="29260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CE8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309360" y="312724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252" y="3265140"/>
            <a:ext cx="254569" cy="25456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0" y="30358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B22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falsos negativos </a:t>
            </a: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fraudes reais classificadas como legítimas. Esse é o erro mais custoso em um sistema real: fraude que passa despercebida gera prejuízo direto.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949440" y="3977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4 falsos positivos </a:t>
            </a: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transações legítimas sinalizadas como fraude. Custo baixo: só geram uma verificação extra.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35040" y="498348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6309360" y="5138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PARA PRODUÇÃO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309360" y="546811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um falso negativo é maior que o de um falso positivo. Antes de produção, o limiar de decisão (threshold) poderia ser ajustado para privilegiar recall, aceitando mais falsos positivos em troca de menos fraudes despercebidas.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Final — Curvas ROC e Precision-Recall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métrica escolhida importa em bases desbalanceadas</a:t>
            </a:r>
            <a:endParaRPr lang="en-US" sz="1300" dirty="0"/>
          </a:p>
        </p:txBody>
      </p:sp>
      <p:pic>
        <p:nvPicPr>
          <p:cNvPr id="4" name="Image 0" descr="imgs/img_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813816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5262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914400" y="4709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0,9849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50932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muito alto, mas pode enganar: a taxa de falsos positivos é calculada sobre 56.864 transações legítimas no teste, o que dilui qualquer erro do modelo.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45262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446520" y="4709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= 0,8497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50932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mais honesta para desbalanceamento extremo. A precision se mantém perto de 1.0 até recall ≈ 0,8, e só então cai — capturar as últimas fraudes mais sutis custa mais em precision.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B22C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887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00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3957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foi consistentemente o melhor modelo entre os quatro testados, sem depender de balanceamento artificial dos dados.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333756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32644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 0.87 para a classe Fraude no teste final — resultado sólido para um problema com 0,17% de casos positivos.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2960" y="420624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41330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mais relevante para o negócio (falsos negativos) ainda existe e seria o próximo ponto de ajuste antes de produção.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5074920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5001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avaliação foram escolhidas com cuidado: F1, AUC-PR e matriz de confusão contam uma história mais honesta que acurácia ou AUC-ROC isoladamente.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580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Office PowerPoint</Application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de Fraude em Cartões de Crédito</dc:title>
  <dc:subject>PptxGenJS Presentation</dc:subject>
  <dc:creator>Miguel Cardoso</dc:creator>
  <cp:lastModifiedBy>Miguel Amaral</cp:lastModifiedBy>
  <cp:revision>1</cp:revision>
  <dcterms:created xsi:type="dcterms:W3CDTF">2026-07-08T18:04:30Z</dcterms:created>
  <dcterms:modified xsi:type="dcterms:W3CDTF">2026-07-08T21:04:37Z</dcterms:modified>
</cp:coreProperties>
</file>